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agalin" charset="1" panose="00000500000000000000"/>
      <p:regular r:id="rId20"/>
    </p:embeddedFont>
    <p:embeddedFont>
      <p:font typeface="Clear Sans Bold" charset="1" panose="020B0803030202020304"/>
      <p:regular r:id="rId21"/>
    </p:embeddedFont>
    <p:embeddedFont>
      <p:font typeface="Canva Sans" charset="1" panose="020B0503030501040103"/>
      <p:regular r:id="rId22"/>
    </p:embeddedFont>
    <p:embeddedFont>
      <p:font typeface="Clear Sans" charset="1" panose="020B0503030202020304"/>
      <p:regular r:id="rId23"/>
    </p:embeddedFont>
    <p:embeddedFont>
      <p:font typeface="Clear Sans Medium" charset="1" panose="020B0603030202020304"/>
      <p:regular r:id="rId24"/>
    </p:embeddedFont>
    <p:embeddedFont>
      <p:font typeface="Anton" charset="1" panose="00000500000000000000"/>
      <p:regular r:id="rId25"/>
    </p:embeddedFont>
    <p:embeddedFont>
      <p:font typeface="Roboto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104900"/>
            <a:ext cx="11506200" cy="120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95"/>
              </a:lnSpc>
            </a:pPr>
            <a:r>
              <a:rPr lang="en-US" sz="8450" spc="-16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YouTube - BPMN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233293"/>
            <a:ext cx="9763125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GROUP-6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639110"/>
            <a:ext cx="976312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TEAM MEMBERS: 2105032, 2105033, 2105043, 2105048, 2105049, 2105055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2462153"/>
            <a:ext cx="11506200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Module: Recommendati</a:t>
            </a:r>
            <a:r>
              <a:rPr lang="en-US" sz="64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on and Personalization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5853054"/>
            <a:ext cx="9763125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PRESENTED BY: 2105032</a:t>
            </a:r>
          </a:p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NAWRIZ AHMED TURJO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725" y="1028700"/>
            <a:ext cx="165925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Key System </a:t>
            </a:r>
            <a:r>
              <a:rPr lang="en-US" sz="6999" spc="-13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09675" y="2523357"/>
            <a:ext cx="6234430" cy="2502886"/>
            <a:chOff x="0" y="0"/>
            <a:chExt cx="8312573" cy="333718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8312573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</a:t>
              </a: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NIFIED FEED GENERATION &amp; CONTENT DISCOVERY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21624"/>
              <a:ext cx="8312573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Ad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apti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ve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eed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merges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personal interests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subscriptions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and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trending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con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1</a:t>
                </a: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913854" y="2523357"/>
            <a:ext cx="6526421" cy="2502886"/>
            <a:chOff x="0" y="0"/>
            <a:chExt cx="8701895" cy="333718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8701895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WATCH</a:t>
              </a: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HISTORY ANALYSIS &amp; BEHAVIOR TRACKING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621624"/>
              <a:ext cx="8701895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onitors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and le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ns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from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watch patterns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 refine future recommendations.</a:t>
              </a:r>
            </a:p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2</a:t>
                </a: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209675" y="5463626"/>
            <a:ext cx="6234430" cy="2502886"/>
            <a:chOff x="0" y="0"/>
            <a:chExt cx="8312573" cy="333718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8312573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USER PREFERENCE &amp; PER</a:t>
              </a: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SONALIZATION CONTROL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21624"/>
              <a:ext cx="8312573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Giv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es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 tools to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customize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reset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or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filter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their recommendation experience.</a:t>
              </a:r>
            </a:p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3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0913854" y="5463626"/>
            <a:ext cx="6526421" cy="2064736"/>
            <a:chOff x="0" y="0"/>
            <a:chExt cx="8701895" cy="275298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57150"/>
              <a:ext cx="8701895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NOTIFICATION SYSTEM</a:t>
              </a:r>
            </a:p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621624"/>
              <a:ext cx="8701895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Timely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b="true" sz="2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relevant 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alerts for subscriptions and trending content.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4</a:t>
                </a: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725" y="961244"/>
            <a:ext cx="165925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POOLs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09675" y="2561444"/>
            <a:ext cx="6234430" cy="2170430"/>
            <a:chOff x="0" y="0"/>
            <a:chExt cx="8312573" cy="289390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8312573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CLIENT APPLICATION</a:t>
              </a:r>
            </a:p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78348"/>
              <a:ext cx="8312573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Maps the Application Interface of YouTube and How it interacts with other key components for the recommendations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1</a:t>
                </a: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913854" y="2561444"/>
            <a:ext cx="6526421" cy="2170430"/>
            <a:chOff x="0" y="0"/>
            <a:chExt cx="8701895" cy="289390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8701895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AI ENGINE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78348"/>
              <a:ext cx="8701895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Suggestion of videos based on user’s profile and history, uses personalized ranking system powered by AI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2</a:t>
                </a: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209675" y="5501712"/>
            <a:ext cx="6234430" cy="2064736"/>
            <a:chOff x="0" y="0"/>
            <a:chExt cx="8312573" cy="275298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831257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DATA SERVICE</a:t>
              </a: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21624"/>
              <a:ext cx="8312573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Core Engine which handles all Database interaction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3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0913854" y="5501712"/>
            <a:ext cx="6526421" cy="2064736"/>
            <a:chOff x="0" y="0"/>
            <a:chExt cx="8701895" cy="275298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57150"/>
              <a:ext cx="8701895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NOTIFICATION &amp;</a:t>
              </a:r>
            </a:p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FEEDBACK SYSTEM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621624"/>
              <a:ext cx="8701895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Provides personalized notifications and receives feedback from users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4</a:t>
                </a: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880790" y="7966363"/>
            <a:ext cx="6526421" cy="1291937"/>
            <a:chOff x="0" y="0"/>
            <a:chExt cx="8701895" cy="172258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57150"/>
              <a:ext cx="8701895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USER CONTROL CENTER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175424"/>
              <a:ext cx="8701895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Handles the settings and paternal controls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0"/>
              <a:ext cx="943649" cy="943649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5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395670"/>
            <a:ext cx="18288000" cy="1057275"/>
            <a:chOff x="0" y="0"/>
            <a:chExt cx="24384000" cy="14097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43840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POOL : Client application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482600" y="233025"/>
              <a:ext cx="943649" cy="94364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1</a:t>
                </a: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2455" y="3839527"/>
            <a:ext cx="8605314" cy="3415921"/>
            <a:chOff x="0" y="0"/>
            <a:chExt cx="11473752" cy="45545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3672987" y="-76200"/>
              <a:ext cx="4127778" cy="794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UI</a:t>
              </a: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RENDERING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1592"/>
              <a:ext cx="11473752" cy="3892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  <a:p>
              <a:pPr algn="l">
                <a:lnSpc>
                  <a:spcPts val="3924"/>
                </a:lnSpc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VISUAL INTERFACE DISPLAY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ONBOARDING VS USER EXPERIENCE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RENDERS HOME FEED, VIDEO PLAYER, AND SETTINGS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 CACHE FOR SESSION PERSISTENCE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1491045"/>
            <a:ext cx="9144000" cy="3652455"/>
            <a:chOff x="0" y="0"/>
            <a:chExt cx="12192000" cy="48699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2192000" cy="83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38"/>
                </a:lnSpc>
                <a:spcBef>
                  <a:spcPct val="0"/>
                </a:spcBef>
              </a:pP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FE</a:t>
              </a: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ED DISPLAY MANAGER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46376"/>
              <a:ext cx="12192000" cy="4123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70"/>
                </a:lnSpc>
              </a:pP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FEED L</a:t>
              </a: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OADING AND REFRESH CYCLES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PERSONALIZED FEED REQUESTS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FEED RESPONSE WAITING STATE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AI ENGINE FOR CONTENT DELIVERY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5668327"/>
            <a:ext cx="8899495" cy="3554791"/>
            <a:chOff x="0" y="0"/>
            <a:chExt cx="11865994" cy="473972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11865994" cy="809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95"/>
                </a:lnSpc>
                <a:spcBef>
                  <a:spcPct val="0"/>
                </a:spcBef>
              </a:pP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INTERACT</a:t>
              </a: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ION HANDLER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15620"/>
              <a:ext cx="11865994" cy="4024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PROCESSES ALL USER </a:t>
              </a: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INTERACTIONS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SENDS WATCH START DATA TO DATA SERVICES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DYNAMIC LOADING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HANDLES PREFERENCE CHANGES AND FEEDBACK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09159" y="1579878"/>
            <a:ext cx="325707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560211" cy="10393718"/>
          </a:xfrm>
          <a:custGeom>
            <a:avLst/>
            <a:gdLst/>
            <a:ahLst/>
            <a:cxnLst/>
            <a:rect r="r" b="b" t="t" l="l"/>
            <a:pathLst>
              <a:path h="10393718" w="18560211">
                <a:moveTo>
                  <a:pt x="0" y="0"/>
                </a:moveTo>
                <a:lnTo>
                  <a:pt x="18560211" y="0"/>
                </a:lnTo>
                <a:lnTo>
                  <a:pt x="18560211" y="10393718"/>
                </a:lnTo>
                <a:lnTo>
                  <a:pt x="0" y="10393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4" t="0" r="-22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395670"/>
            <a:ext cx="18288000" cy="1057275"/>
            <a:chOff x="0" y="0"/>
            <a:chExt cx="24384000" cy="14097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43840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POOL : AI Engine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482600" y="233025"/>
              <a:ext cx="943649" cy="94364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2</a:t>
                </a: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2455" y="3839527"/>
            <a:ext cx="8605314" cy="3907267"/>
            <a:chOff x="0" y="0"/>
            <a:chExt cx="11473752" cy="520968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1473752" cy="794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CONT</a:t>
              </a: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ENT ANALYZER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1592"/>
              <a:ext cx="11473752" cy="454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  <a:p>
              <a:pPr algn="l">
                <a:lnSpc>
                  <a:spcPts val="3924"/>
                </a:lnSpc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FETCHES TRENDING CONTENT FROM DATA SERVICES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GE</a:t>
              </a: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NERATES CANDIDATE VIDEOS FOR RECOMMENDATION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HANDLES DATA UNAVAILABILITY WITH FALLBACK STRATEGIES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1491045"/>
            <a:ext cx="9144000" cy="3652455"/>
            <a:chOff x="0" y="0"/>
            <a:chExt cx="12192000" cy="48699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2192000" cy="83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38"/>
                </a:lnSpc>
                <a:spcBef>
                  <a:spcPct val="0"/>
                </a:spcBef>
              </a:pP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US</a:t>
              </a: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ER MODELING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46376"/>
              <a:ext cx="12192000" cy="4123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70"/>
                </a:lnSpc>
              </a:pP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GETS USER C</a:t>
              </a: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ONTEXT AND PROFILE DATA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RETRIEVES USER HISTORY FOR PERSONALIZATION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DETERMINES IF SUFFICIENT USER DATA EXISTS FOR PERSONALIZED RANKING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5668327"/>
            <a:ext cx="8899495" cy="4062934"/>
            <a:chOff x="0" y="0"/>
            <a:chExt cx="11865994" cy="541724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11865994" cy="809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95"/>
                </a:lnSpc>
                <a:spcBef>
                  <a:spcPct val="0"/>
                </a:spcBef>
              </a:pP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RANK</a:t>
              </a: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ING &amp; BLENDING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15620"/>
              <a:ext cx="11865994" cy="47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COLD-START S</a:t>
              </a: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TRATEGY AND PERSONALIZED RANKING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USES DIVERSITY ALGORITHM TO PREVENT FILTER BUBBLES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BALANCES FEED COMPOSITION (SUBSCRIPTIONS, TRENDING, DISCOVERIES)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09159" y="1579878"/>
            <a:ext cx="325707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69" t="0" r="-136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395670"/>
            <a:ext cx="18288000" cy="1057275"/>
            <a:chOff x="0" y="0"/>
            <a:chExt cx="24384000" cy="14097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43840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POOL : Data Services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482600" y="233025"/>
              <a:ext cx="943649" cy="94364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3</a:t>
                </a: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2455" y="3839527"/>
            <a:ext cx="8605314" cy="2433230"/>
            <a:chOff x="0" y="0"/>
            <a:chExt cx="11473752" cy="324430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1473752" cy="794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CONT</a:t>
              </a: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ENT CATALOG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1592"/>
              <a:ext cx="11473752" cy="258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</a:t>
              </a: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NAGES VIDEO CATALOG DATABASE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UPDATES TRENDING SCORES EVERY 5 MINUTES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TRIGGERS NEW CONTENT ALERTS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1491045"/>
            <a:ext cx="9144000" cy="3130352"/>
            <a:chOff x="0" y="0"/>
            <a:chExt cx="12192000" cy="417380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2192000" cy="83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38"/>
                </a:lnSpc>
                <a:spcBef>
                  <a:spcPct val="0"/>
                </a:spcBef>
              </a:pP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US</a:t>
              </a: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ER DATA STORE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46376"/>
              <a:ext cx="12192000" cy="342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70"/>
                </a:lnSpc>
              </a:pP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PROCESSES USER </a:t>
              </a: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PROFILE REQUESTS (GET/POST/PATCH)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MANAGES USER PROFILE DATABASE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5668327"/>
            <a:ext cx="8899495" cy="2538505"/>
            <a:chOff x="0" y="0"/>
            <a:chExt cx="11865994" cy="338467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11865994" cy="809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95"/>
                </a:lnSpc>
                <a:spcBef>
                  <a:spcPct val="0"/>
                </a:spcBef>
              </a:pP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NOTIFICAT</a:t>
              </a: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ION PREFERENCE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15620"/>
              <a:ext cx="11865994" cy="2669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MANAGES USER NO</a:t>
              </a: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TIFICATION SETTINGS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SYNCS SETTINGS ACROSS THE SYSTEM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HANDLES PREFERENCE REQUESTS AND UPDATES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09159" y="1579878"/>
            <a:ext cx="325707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62455" y="6857736"/>
            <a:ext cx="8605314" cy="1941884"/>
            <a:chOff x="0" y="0"/>
            <a:chExt cx="11473752" cy="258917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76200"/>
              <a:ext cx="11473752" cy="794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HISTORY</a:t>
              </a: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RETRIEVAL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61592"/>
              <a:ext cx="11473752" cy="192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QUERI</a:t>
              </a: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ES USER HISTORY DATABASE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MAINTAINS HISTORICAL VIEWING DATA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0"/>
            <a:ext cx="16206228" cy="10287000"/>
          </a:xfrm>
          <a:custGeom>
            <a:avLst/>
            <a:gdLst/>
            <a:ahLst/>
            <a:cxnLst/>
            <a:rect r="r" b="b" t="t" l="l"/>
            <a:pathLst>
              <a:path h="10287000" w="16206228">
                <a:moveTo>
                  <a:pt x="0" y="0"/>
                </a:moveTo>
                <a:lnTo>
                  <a:pt x="16206228" y="0"/>
                </a:lnTo>
                <a:lnTo>
                  <a:pt x="162062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" t="-3483" r="0" b="-348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395670"/>
            <a:ext cx="18288000" cy="1057275"/>
            <a:chOff x="0" y="0"/>
            <a:chExt cx="24384000" cy="14097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43840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POOL : Notification &amp; Feedback System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482600" y="233025"/>
              <a:ext cx="943649" cy="94364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4</a:t>
                </a: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2455" y="3839527"/>
            <a:ext cx="8605314" cy="2924575"/>
            <a:chOff x="0" y="0"/>
            <a:chExt cx="11473752" cy="389943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1473752" cy="794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</a:t>
              </a: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EEDBACK COLLECTOR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1592"/>
              <a:ext cx="11473752" cy="3237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CAPTURES THREE TYPES </a:t>
              </a: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OF USER FEEDBACK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ROUTES ALL FEEDBACK TO DATA SERVICES FOR SYSTEM LEARNING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PROCESSES USER INTERACTIONS WITH CONTENT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1491045"/>
            <a:ext cx="9144000" cy="3652455"/>
            <a:chOff x="0" y="0"/>
            <a:chExt cx="12192000" cy="48699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2192000" cy="83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38"/>
                </a:lnSpc>
                <a:spcBef>
                  <a:spcPct val="0"/>
                </a:spcBef>
              </a:pP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NOTIFICATIO</a:t>
              </a: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 MANAGER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46376"/>
              <a:ext cx="12192000" cy="4123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70"/>
                </a:lnSpc>
              </a:pP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NEW CONTENT TRIGGER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PERSONALIZES AND SCHEDULES NOTIFICATION DELIVERY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HANDLES NOTIFICATION UPDATES FOR FUTURE REFERENCE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5668327"/>
            <a:ext cx="8899495" cy="3554791"/>
            <a:chOff x="0" y="0"/>
            <a:chExt cx="11865994" cy="473972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11865994" cy="809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95"/>
                </a:lnSpc>
                <a:spcBef>
                  <a:spcPct val="0"/>
                </a:spcBef>
              </a:pP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EVALUATION EN</a:t>
              </a: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15620"/>
              <a:ext cx="11865994" cy="4024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RUN</a:t>
              </a: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 DAILY ANALYTICS AUTOMATICALLY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PERFORMANCE REPORTS ON RECOMMENDATION EFFECTIVENESS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SENDS METRICS TO DATA SERVICES FOR CONTINUOUS IMPROVEMENT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09159" y="1579878"/>
            <a:ext cx="325707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395670"/>
            <a:ext cx="18288000" cy="1057275"/>
            <a:chOff x="0" y="0"/>
            <a:chExt cx="24384000" cy="14097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43840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POOL : User Control Center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482600" y="233025"/>
              <a:ext cx="943649" cy="94364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5"/>
                  </a:lnSpc>
                </a:pPr>
                <a:r>
                  <a:rPr lang="en-US" b="true" sz="2396">
                    <a:solidFill>
                      <a:srgbClr val="000000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5</a:t>
                </a: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2455" y="3839527"/>
            <a:ext cx="8605314" cy="2433230"/>
            <a:chOff x="0" y="0"/>
            <a:chExt cx="11473752" cy="324430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1473752" cy="794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3"/>
                </a:lnSpc>
                <a:spcBef>
                  <a:spcPct val="0"/>
                </a:spcBef>
              </a:pP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PAR</a:t>
              </a:r>
              <a:r>
                <a:rPr lang="en-US" b="true" sz="358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ENTAL CONTROLS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1592"/>
              <a:ext cx="11473752" cy="258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APPLIES CONTENT RES</a:t>
              </a: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TRICTIONS FOR YOUNGER USERS</a:t>
              </a:r>
            </a:p>
            <a:p>
              <a:pPr algn="l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MANAGES AGE-APPROPRIATE CONTENT FILTERING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1491045"/>
            <a:ext cx="9144000" cy="3652455"/>
            <a:chOff x="0" y="0"/>
            <a:chExt cx="12192000" cy="48699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2192000" cy="830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38"/>
                </a:lnSpc>
                <a:spcBef>
                  <a:spcPct val="0"/>
                </a:spcBef>
              </a:pP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PREF</a:t>
              </a:r>
              <a:r>
                <a:rPr lang="en-US" b="true" sz="3813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ERENCE MANAGEMENT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46376"/>
              <a:ext cx="12192000" cy="4123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70"/>
                </a:lnSpc>
              </a:pP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AUTHE</a:t>
              </a: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NTICATES USERS BEFORE CHANGES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HANDLES PREFERENCE VECTOR UPDATES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MANAGES PRIVACY SETTINGS MODIFICATIONS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SYNCS SETTINGS TO DATA SERVICES</a:t>
              </a:r>
            </a:p>
            <a:p>
              <a:pPr algn="l">
                <a:lnSpc>
                  <a:spcPts val="4170"/>
                </a:lnSpc>
                <a:spcBef>
                  <a:spcPct val="0"/>
                </a:spcBef>
              </a:pPr>
              <a:r>
                <a:rPr lang="en-US" sz="29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SENDS CONFIRMATION TO CLIENT AFTER CHANGES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5668327"/>
            <a:ext cx="8899495" cy="3046648"/>
            <a:chOff x="0" y="0"/>
            <a:chExt cx="11865994" cy="406219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11865994" cy="809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95"/>
                </a:lnSpc>
                <a:spcBef>
                  <a:spcPct val="0"/>
                </a:spcBef>
              </a:pP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HISTORY MANA</a:t>
              </a:r>
              <a:r>
                <a:rPr lang="en-US" b="true" sz="371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GEMENT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15620"/>
              <a:ext cx="11865994" cy="3346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MOD</a:t>
              </a: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IFIES HISTORY SETTINGS (PAUSE/RESUME)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CONTROLS HOW WATCH HISTORY INFLUENCES RECOMMENDATIONS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09159" y="1579878"/>
            <a:ext cx="325707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79315"/>
            <a:ext cx="22311880" cy="10207685"/>
          </a:xfrm>
          <a:custGeom>
            <a:avLst/>
            <a:gdLst/>
            <a:ahLst/>
            <a:cxnLst/>
            <a:rect r="r" b="b" t="t" l="l"/>
            <a:pathLst>
              <a:path h="10207685" w="22311880">
                <a:moveTo>
                  <a:pt x="0" y="0"/>
                </a:moveTo>
                <a:lnTo>
                  <a:pt x="22311880" y="0"/>
                </a:lnTo>
                <a:lnTo>
                  <a:pt x="22311880" y="10207685"/>
                </a:lnTo>
                <a:lnTo>
                  <a:pt x="0" y="10207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545829"/>
            <a:ext cx="16230600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WE WE</a:t>
            </a:r>
            <a:r>
              <a:rPr lang="en-US" sz="4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LCOME YOUR FEEDBACK AND SUGGESTIONS!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785271"/>
            <a:ext cx="16701662" cy="530315"/>
            <a:chOff x="0" y="0"/>
            <a:chExt cx="22268882" cy="7070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2475951" cy="78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NAWRIZ AHMED TURJO (2105032)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9792931" y="-76200"/>
              <a:ext cx="12475951" cy="78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SHAMS H</a:t>
              </a: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OSSAIN SIMANTO (2105048)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336316" y="3633788"/>
            <a:ext cx="7615368" cy="8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u="sng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Team Members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5404396"/>
            <a:ext cx="16701662" cy="530315"/>
            <a:chOff x="0" y="0"/>
            <a:chExt cx="22268882" cy="70708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2475951" cy="78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ABHISHEK ROY (2105033)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792931" y="-76200"/>
              <a:ext cx="12475951" cy="78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AMIT SAHA (2105049)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023521"/>
            <a:ext cx="16701662" cy="530315"/>
            <a:chOff x="0" y="0"/>
            <a:chExt cx="22268882" cy="7070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12475951" cy="78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MONJUR HOSSAIN KHAN SHOVON (2105043)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792931" y="-76200"/>
              <a:ext cx="12475951" cy="78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ABRAR JAHIN (2105055)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1509713"/>
            <a:ext cx="1659255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9"/>
              </a:lnSpc>
            </a:pPr>
            <a:r>
              <a:rPr lang="en-US" sz="8499" spc="-16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YouTube Recommendation System</dc:description>
  <dc:identifier>DAG9XwkvgR4</dc:identifier>
  <dcterms:modified xsi:type="dcterms:W3CDTF">2011-08-01T06:04:30Z</dcterms:modified>
  <cp:revision>1</cp:revision>
  <dc:title>BPMN-YT-by-Turjo</dc:title>
</cp:coreProperties>
</file>